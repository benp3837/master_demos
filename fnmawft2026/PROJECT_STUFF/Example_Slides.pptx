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embeddedFontLst>
    <p:embeddedFont>
      <p:font typeface="Lato" panose="020F0502020204030204" pitchFamily="34" charset="0"/>
      <p:regular r:id="rId19"/>
      <p:bold r:id="rId20"/>
      <p:italic r:id="rId21"/>
      <p:boldItalic r:id="rId22"/>
    </p:embeddedFont>
    <p:embeddedFont>
      <p:font typeface="Montserrat" panose="020F0502020204030204"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dd9c92127f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dd9c92127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dd9c92127f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dd9c92127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dd9c92127f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dd9c92127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dd9c92127f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dd9c92127f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During the development process, we utilized Trello to create a visual Story Board. The Backlog section contained a list of user features that haven’t been started yet. By placing tasks into categories, we were able to keep track of everyone’s progress and see which tasks still needed to be worked 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dd9c92127f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dd9c92127f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As you saw in the previous slide, we relied heavily on the Trello Board to keep everyone in the group up to date with the current status of our project. We split our team up into 2 groups - the Front End Team and the Back End Team. This allowed us to more easily communicate with all of our members and provided a smaller environment for collaboration. Every day we held daily meetings, both as a full team and as Front End/Back End teams. Once everyone finished their features, they were made into a Pull Request on GitHub and reviewed by the team managers.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db711e63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ddb711e63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dd9c92127f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dd9c92127f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dd9c92127f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dd9c92127f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dd9c92127f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dd9c92127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dd9c92127f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dd9c92127f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dd9c92127f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dd9c92127f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dd9c92127f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dd9c92127f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dd9c92127f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dd9c92127f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dd9c92127f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dd9c92127f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de7e7dce9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de7e7dce9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755BF2CD-39F8-ADF0-F71C-35D2BF67156F}"/>
              </a:ext>
            </a:extLst>
          </p:cNvPr>
          <p:cNvSpPr txBox="1"/>
          <p:nvPr userDrawn="1">
            <p:extLst>
              <p:ext uri="{1162E1C5-73C7-4A58-AE30-91384D911F3F}">
                <p184:classification xmlns:p184="http://schemas.microsoft.com/office/powerpoint/2018/4/main" val="ftr"/>
              </p:ext>
            </p:extLst>
          </p:nvPr>
        </p:nvSpPr>
        <p:spPr>
          <a:xfrm>
            <a:off x="63500" y="4927600"/>
            <a:ext cx="13589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Fannie Mae Confidential</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SmileMart</a:t>
            </a:r>
            <a:endParaRPr dirty="0"/>
          </a:p>
        </p:txBody>
      </p:sp>
      <p:sp>
        <p:nvSpPr>
          <p:cNvPr id="135" name="Google Shape;135;p13"/>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dirty="0"/>
              <a:t>Created By:</a:t>
            </a:r>
            <a:endParaRPr dirty="0"/>
          </a:p>
          <a:p>
            <a:pPr marL="0" lvl="0" indent="0" algn="l" rtl="0">
              <a:spcBef>
                <a:spcPts val="0"/>
              </a:spcBef>
              <a:spcAft>
                <a:spcPts val="0"/>
              </a:spcAft>
              <a:buNone/>
            </a:pPr>
            <a:r>
              <a:rPr lang="en-US" dirty="0"/>
              <a:t>Some </a:t>
            </a:r>
            <a:r>
              <a:rPr lang="en-US" dirty="0" err="1"/>
              <a:t>revature</a:t>
            </a:r>
            <a:r>
              <a:rPr lang="en-US" dirty="0"/>
              <a:t> cohort from years ago, it’s all a blur at this point </a:t>
            </a:r>
            <a:r>
              <a:rPr lang="en-US" dirty="0" err="1"/>
              <a:t>ngl</a:t>
            </a:r>
            <a:endParaRPr dirty="0"/>
          </a:p>
        </p:txBody>
      </p:sp>
      <p:pic>
        <p:nvPicPr>
          <p:cNvPr id="136" name="Google Shape;136;p13"/>
          <p:cNvPicPr preferRelativeResize="0"/>
          <p:nvPr/>
        </p:nvPicPr>
        <p:blipFill>
          <a:blip r:embed="rId3">
            <a:alphaModFix/>
          </a:blip>
          <a:stretch>
            <a:fillRect/>
          </a:stretch>
        </p:blipFill>
        <p:spPr>
          <a:xfrm>
            <a:off x="359375" y="2702713"/>
            <a:ext cx="2241974" cy="22419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Table of Contents</a:t>
            </a:r>
            <a:endParaRPr/>
          </a:p>
        </p:txBody>
      </p:sp>
      <p:sp>
        <p:nvSpPr>
          <p:cNvPr id="142" name="Google Shape;142;p14"/>
          <p:cNvSpPr txBox="1">
            <a:spLocks noGrp="1"/>
          </p:cNvSpPr>
          <p:nvPr>
            <p:ph type="body" idx="1"/>
          </p:nvPr>
        </p:nvSpPr>
        <p:spPr>
          <a:xfrm>
            <a:off x="1297500" y="1389688"/>
            <a:ext cx="7201200" cy="3191700"/>
          </a:xfrm>
          <a:prstGeom prst="rect">
            <a:avLst/>
          </a:prstGeom>
        </p:spPr>
        <p:txBody>
          <a:bodyPr spcFirstLastPara="1" wrap="square" lIns="91425" tIns="91425" rIns="91425" bIns="91425" anchor="t" anchorCtr="0">
            <a:normAutofit lnSpcReduction="20000"/>
          </a:bodyPr>
          <a:lstStyle/>
          <a:p>
            <a:pPr marL="457200" lvl="0" indent="-311150" algn="l" rtl="0">
              <a:spcBef>
                <a:spcPts val="0"/>
              </a:spcBef>
              <a:spcAft>
                <a:spcPts val="0"/>
              </a:spcAft>
              <a:buSzPts val="1300"/>
              <a:buChar char="●"/>
            </a:pPr>
            <a:r>
              <a:rPr lang="en"/>
              <a:t>Meet The Team</a:t>
            </a:r>
            <a:endParaRPr/>
          </a:p>
          <a:p>
            <a:pPr marL="457200" lvl="0" indent="-311150" algn="l" rtl="0">
              <a:spcBef>
                <a:spcPts val="0"/>
              </a:spcBef>
              <a:spcAft>
                <a:spcPts val="0"/>
              </a:spcAft>
              <a:buSzPts val="1300"/>
              <a:buChar char="●"/>
            </a:pPr>
            <a:r>
              <a:rPr lang="en"/>
              <a:t>What is “SmileMart”?</a:t>
            </a:r>
            <a:endParaRPr/>
          </a:p>
          <a:p>
            <a:pPr marL="457200" lvl="0" indent="-311150" algn="l" rtl="0">
              <a:spcBef>
                <a:spcPts val="0"/>
              </a:spcBef>
              <a:spcAft>
                <a:spcPts val="0"/>
              </a:spcAft>
              <a:buSzPts val="1300"/>
              <a:buChar char="●"/>
            </a:pPr>
            <a:r>
              <a:rPr lang="en"/>
              <a:t>Scrum Methodology </a:t>
            </a:r>
            <a:endParaRPr/>
          </a:p>
          <a:p>
            <a:pPr marL="914400" lvl="1" indent="-298450" algn="l" rtl="0">
              <a:spcBef>
                <a:spcPts val="0"/>
              </a:spcBef>
              <a:spcAft>
                <a:spcPts val="0"/>
              </a:spcAft>
              <a:buSzPts val="1100"/>
              <a:buChar char="○"/>
            </a:pPr>
            <a:r>
              <a:rPr lang="en"/>
              <a:t>Trello</a:t>
            </a:r>
            <a:endParaRPr/>
          </a:p>
          <a:p>
            <a:pPr marL="914400" lvl="1" indent="-298450" algn="l" rtl="0">
              <a:spcBef>
                <a:spcPts val="0"/>
              </a:spcBef>
              <a:spcAft>
                <a:spcPts val="0"/>
              </a:spcAft>
              <a:buSzPts val="1100"/>
              <a:buChar char="○"/>
            </a:pPr>
            <a:r>
              <a:rPr lang="en"/>
              <a:t>Iterative Planning / Development</a:t>
            </a:r>
            <a:endParaRPr/>
          </a:p>
          <a:p>
            <a:pPr marL="457200" lvl="0" indent="-311150" algn="l" rtl="0">
              <a:spcBef>
                <a:spcPts val="0"/>
              </a:spcBef>
              <a:spcAft>
                <a:spcPts val="0"/>
              </a:spcAft>
              <a:buSzPts val="1300"/>
              <a:buChar char="●"/>
            </a:pPr>
            <a:r>
              <a:rPr lang="en"/>
              <a:t>Application Architecture</a:t>
            </a:r>
            <a:endParaRPr/>
          </a:p>
          <a:p>
            <a:pPr marL="914400" lvl="1" indent="-298450" algn="l" rtl="0">
              <a:spcBef>
                <a:spcPts val="0"/>
              </a:spcBef>
              <a:spcAft>
                <a:spcPts val="0"/>
              </a:spcAft>
              <a:buSzPts val="1100"/>
              <a:buChar char="○"/>
            </a:pPr>
            <a:r>
              <a:rPr lang="en"/>
              <a:t>ERD</a:t>
            </a:r>
            <a:endParaRPr/>
          </a:p>
          <a:p>
            <a:pPr marL="914400" lvl="1" indent="-298450" algn="l" rtl="0">
              <a:spcBef>
                <a:spcPts val="0"/>
              </a:spcBef>
              <a:spcAft>
                <a:spcPts val="0"/>
              </a:spcAft>
              <a:buSzPts val="1100"/>
              <a:buChar char="○"/>
            </a:pPr>
            <a:r>
              <a:rPr lang="en"/>
              <a:t>Client Server</a:t>
            </a:r>
            <a:endParaRPr/>
          </a:p>
          <a:p>
            <a:pPr marL="914400" lvl="1" indent="-298450" algn="l" rtl="0">
              <a:spcBef>
                <a:spcPts val="0"/>
              </a:spcBef>
              <a:spcAft>
                <a:spcPts val="0"/>
              </a:spcAft>
              <a:buSzPts val="1100"/>
              <a:buChar char="○"/>
            </a:pPr>
            <a:r>
              <a:rPr lang="en"/>
              <a:t>High Level Overview</a:t>
            </a:r>
            <a:endParaRPr/>
          </a:p>
          <a:p>
            <a:pPr marL="457200" lvl="0" indent="-311150" algn="l" rtl="0">
              <a:spcBef>
                <a:spcPts val="0"/>
              </a:spcBef>
              <a:spcAft>
                <a:spcPts val="0"/>
              </a:spcAft>
              <a:buSzPts val="1300"/>
              <a:buChar char="●"/>
            </a:pPr>
            <a:r>
              <a:rPr lang="en"/>
              <a:t>Use Case Diagrams</a:t>
            </a:r>
            <a:endParaRPr/>
          </a:p>
          <a:p>
            <a:pPr marL="914400" lvl="1" indent="-298450" algn="l" rtl="0">
              <a:spcBef>
                <a:spcPts val="0"/>
              </a:spcBef>
              <a:spcAft>
                <a:spcPts val="0"/>
              </a:spcAft>
              <a:buSzPts val="1100"/>
              <a:buChar char="○"/>
            </a:pPr>
            <a:r>
              <a:rPr lang="en"/>
              <a:t>User Use-Case Diagram</a:t>
            </a:r>
            <a:endParaRPr/>
          </a:p>
          <a:p>
            <a:pPr marL="914400" lvl="1" indent="-298450" algn="l" rtl="0">
              <a:spcBef>
                <a:spcPts val="0"/>
              </a:spcBef>
              <a:spcAft>
                <a:spcPts val="0"/>
              </a:spcAft>
              <a:buSzPts val="1100"/>
              <a:buChar char="○"/>
            </a:pPr>
            <a:r>
              <a:rPr lang="en"/>
              <a:t>Manager Use-Case Diagram</a:t>
            </a:r>
            <a:endParaRPr/>
          </a:p>
          <a:p>
            <a:pPr marL="457200" lvl="0" indent="-311150" algn="l" rtl="0">
              <a:spcBef>
                <a:spcPts val="0"/>
              </a:spcBef>
              <a:spcAft>
                <a:spcPts val="0"/>
              </a:spcAft>
              <a:buSzPts val="1300"/>
              <a:buChar char="●"/>
            </a:pPr>
            <a:r>
              <a:rPr lang="en"/>
              <a:t>Test Results</a:t>
            </a:r>
            <a:endParaRPr/>
          </a:p>
          <a:p>
            <a:pPr marL="457200" lvl="0" indent="-311150" algn="l" rtl="0">
              <a:spcBef>
                <a:spcPts val="0"/>
              </a:spcBef>
              <a:spcAft>
                <a:spcPts val="0"/>
              </a:spcAft>
              <a:buSzPts val="1300"/>
              <a:buChar char="●"/>
            </a:pPr>
            <a:r>
              <a:rPr lang="en"/>
              <a:t>Security (JWT)</a:t>
            </a:r>
            <a:endParaRPr/>
          </a:p>
          <a:p>
            <a:pPr marL="457200" lvl="0" indent="-311150" algn="l" rtl="0">
              <a:spcBef>
                <a:spcPts val="0"/>
              </a:spcBef>
              <a:spcAft>
                <a:spcPts val="0"/>
              </a:spcAft>
              <a:buSzPts val="1300"/>
              <a:buChar char="●"/>
            </a:pPr>
            <a:r>
              <a:rPr lang="en"/>
              <a:t>DEMO! </a:t>
            </a:r>
            <a:endParaRPr/>
          </a:p>
          <a:p>
            <a:pPr marL="457200" lvl="0" indent="-311150" algn="l" rtl="0">
              <a:spcBef>
                <a:spcPts val="0"/>
              </a:spcBef>
              <a:spcAft>
                <a:spcPts val="0"/>
              </a:spcAft>
              <a:buSzPts val="1300"/>
              <a:buChar char="●"/>
            </a:pPr>
            <a:r>
              <a:rPr lang="en"/>
              <a:t>Conclusion </a:t>
            </a:r>
            <a:endParaRPr/>
          </a:p>
          <a:p>
            <a:pPr marL="914400" lvl="1" indent="-298450" algn="l" rtl="0">
              <a:spcBef>
                <a:spcPts val="0"/>
              </a:spcBef>
              <a:spcAft>
                <a:spcPts val="0"/>
              </a:spcAft>
              <a:buSzPts val="1100"/>
              <a:buChar char="○"/>
            </a:pPr>
            <a:r>
              <a:rPr lang="en"/>
              <a:t>Next Steps!</a:t>
            </a:r>
            <a:endParaRPr/>
          </a:p>
        </p:txBody>
      </p:sp>
      <p:sp>
        <p:nvSpPr>
          <p:cNvPr id="143" name="Google Shape;14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Meet The Team! </a:t>
            </a:r>
            <a:endParaRPr/>
          </a:p>
        </p:txBody>
      </p:sp>
      <p:sp>
        <p:nvSpPr>
          <p:cNvPr id="149" name="Google Shape;149;p15"/>
          <p:cNvSpPr txBox="1">
            <a:spLocks noGrp="1"/>
          </p:cNvSpPr>
          <p:nvPr>
            <p:ph type="body" idx="1"/>
          </p:nvPr>
        </p:nvSpPr>
        <p:spPr>
          <a:xfrm>
            <a:off x="1231000" y="1530600"/>
            <a:ext cx="7038900" cy="2911200"/>
          </a:xfrm>
          <a:prstGeom prst="rect">
            <a:avLst/>
          </a:prstGeom>
        </p:spPr>
        <p:txBody>
          <a:bodyPr spcFirstLastPara="1" wrap="square" lIns="91425" tIns="91425" rIns="91425" bIns="91425" anchor="t" anchorCtr="0">
            <a:normAutofit fontScale="32500" lnSpcReduction="20000"/>
          </a:bodyPr>
          <a:lstStyle/>
          <a:p>
            <a:pPr marL="457200" lvl="0" indent="-295671" algn="l" rtl="0">
              <a:spcBef>
                <a:spcPts val="0"/>
              </a:spcBef>
              <a:spcAft>
                <a:spcPts val="0"/>
              </a:spcAft>
              <a:buSzPct val="100000"/>
              <a:buChar char="●"/>
            </a:pPr>
            <a:r>
              <a:rPr lang="en" sz="3250"/>
              <a:t>Team Lead: John Rumrill</a:t>
            </a:r>
            <a:endParaRPr sz="3250"/>
          </a:p>
          <a:p>
            <a:pPr marL="457200" lvl="0" indent="-295671" algn="l" rtl="0">
              <a:spcBef>
                <a:spcPts val="0"/>
              </a:spcBef>
              <a:spcAft>
                <a:spcPts val="0"/>
              </a:spcAft>
              <a:buSzPct val="100000"/>
              <a:buChar char="●"/>
            </a:pPr>
            <a:r>
              <a:rPr lang="en" sz="3250"/>
              <a:t>Back - End:</a:t>
            </a:r>
            <a:endParaRPr sz="3250"/>
          </a:p>
          <a:p>
            <a:pPr marL="914400" lvl="1" indent="-295671" algn="l" rtl="0">
              <a:spcBef>
                <a:spcPts val="0"/>
              </a:spcBef>
              <a:spcAft>
                <a:spcPts val="0"/>
              </a:spcAft>
              <a:buSzPct val="100000"/>
              <a:buChar char="○"/>
            </a:pPr>
            <a:r>
              <a:rPr lang="en" sz="3250"/>
              <a:t>Manager:  Sidney Bowe</a:t>
            </a:r>
            <a:endParaRPr sz="3250"/>
          </a:p>
          <a:p>
            <a:pPr marL="914400" lvl="1" indent="-295671" algn="l" rtl="0">
              <a:spcBef>
                <a:spcPts val="0"/>
              </a:spcBef>
              <a:spcAft>
                <a:spcPts val="0"/>
              </a:spcAft>
              <a:buSzPct val="100000"/>
              <a:buChar char="○"/>
            </a:pPr>
            <a:r>
              <a:rPr lang="en" sz="3250"/>
              <a:t>Aruna Assija</a:t>
            </a:r>
            <a:endParaRPr sz="3250"/>
          </a:p>
          <a:p>
            <a:pPr marL="914400" lvl="1" indent="-295671" algn="l" rtl="0">
              <a:spcBef>
                <a:spcPts val="0"/>
              </a:spcBef>
              <a:spcAft>
                <a:spcPts val="0"/>
              </a:spcAft>
              <a:buSzPct val="100000"/>
              <a:buChar char="○"/>
            </a:pPr>
            <a:r>
              <a:rPr lang="en" sz="3250"/>
              <a:t>Brian Lam</a:t>
            </a:r>
            <a:endParaRPr sz="3250"/>
          </a:p>
          <a:p>
            <a:pPr marL="914400" lvl="1" indent="-295671" algn="l" rtl="0">
              <a:spcBef>
                <a:spcPts val="0"/>
              </a:spcBef>
              <a:spcAft>
                <a:spcPts val="0"/>
              </a:spcAft>
              <a:buSzPct val="100000"/>
              <a:buChar char="○"/>
            </a:pPr>
            <a:r>
              <a:rPr lang="en" sz="3250"/>
              <a:t>Chikaosolu Amaechi (Products/Categories)</a:t>
            </a:r>
            <a:endParaRPr sz="3250"/>
          </a:p>
          <a:p>
            <a:pPr marL="914400" lvl="1" indent="-295671" algn="l" rtl="0">
              <a:spcBef>
                <a:spcPts val="0"/>
              </a:spcBef>
              <a:spcAft>
                <a:spcPts val="0"/>
              </a:spcAft>
              <a:buSzPct val="100000"/>
              <a:buChar char="○"/>
            </a:pPr>
            <a:r>
              <a:rPr lang="en" sz="3250"/>
              <a:t>James Ta</a:t>
            </a:r>
            <a:endParaRPr sz="3250"/>
          </a:p>
          <a:p>
            <a:pPr marL="914400" lvl="1" indent="-295671" algn="l" rtl="0">
              <a:spcBef>
                <a:spcPts val="0"/>
              </a:spcBef>
              <a:spcAft>
                <a:spcPts val="0"/>
              </a:spcAft>
              <a:buSzPct val="100000"/>
              <a:buChar char="○"/>
            </a:pPr>
            <a:r>
              <a:rPr lang="en" sz="3250"/>
              <a:t>Thomas Harding - (Products/Orders)</a:t>
            </a:r>
            <a:endParaRPr sz="3250"/>
          </a:p>
          <a:p>
            <a:pPr marL="914400" lvl="1" indent="-295671" algn="l" rtl="0">
              <a:spcBef>
                <a:spcPts val="0"/>
              </a:spcBef>
              <a:spcAft>
                <a:spcPts val="0"/>
              </a:spcAft>
              <a:buSzPct val="100000"/>
              <a:buChar char="○"/>
            </a:pPr>
            <a:r>
              <a:rPr lang="en" sz="3250"/>
              <a:t>Ward Alhadid</a:t>
            </a:r>
            <a:endParaRPr sz="3250"/>
          </a:p>
          <a:p>
            <a:pPr marL="914400" lvl="1" indent="-295671" algn="l" rtl="0">
              <a:spcBef>
                <a:spcPts val="0"/>
              </a:spcBef>
              <a:spcAft>
                <a:spcPts val="0"/>
              </a:spcAft>
              <a:buSzPct val="100000"/>
              <a:buChar char="○"/>
            </a:pPr>
            <a:r>
              <a:rPr lang="en" sz="3250"/>
              <a:t>Yanyan Jiang</a:t>
            </a:r>
            <a:endParaRPr sz="3250"/>
          </a:p>
          <a:p>
            <a:pPr marL="457200" lvl="0" indent="-295671" algn="l" rtl="0">
              <a:spcBef>
                <a:spcPts val="0"/>
              </a:spcBef>
              <a:spcAft>
                <a:spcPts val="0"/>
              </a:spcAft>
              <a:buSzPct val="100000"/>
              <a:buChar char="●"/>
            </a:pPr>
            <a:r>
              <a:rPr lang="en" sz="3250"/>
              <a:t>Front - End:</a:t>
            </a:r>
            <a:endParaRPr sz="3250"/>
          </a:p>
          <a:p>
            <a:pPr marL="914400" lvl="1" indent="-295671" algn="l" rtl="0">
              <a:spcBef>
                <a:spcPts val="0"/>
              </a:spcBef>
              <a:spcAft>
                <a:spcPts val="0"/>
              </a:spcAft>
              <a:buSzPct val="100000"/>
              <a:buChar char="○"/>
            </a:pPr>
            <a:r>
              <a:rPr lang="en" sz="3250"/>
              <a:t>Manager: Jonathan Tackett</a:t>
            </a:r>
            <a:endParaRPr sz="3250"/>
          </a:p>
          <a:p>
            <a:pPr marL="914400" lvl="1" indent="-295671" algn="l" rtl="0">
              <a:spcBef>
                <a:spcPts val="0"/>
              </a:spcBef>
              <a:spcAft>
                <a:spcPts val="0"/>
              </a:spcAft>
              <a:buSzPct val="100000"/>
              <a:buChar char="○"/>
            </a:pPr>
            <a:r>
              <a:rPr lang="en" sz="3250"/>
              <a:t>Daniel Istre - (React Context, JWT)</a:t>
            </a:r>
            <a:endParaRPr sz="3250"/>
          </a:p>
          <a:p>
            <a:pPr marL="914400" lvl="1" indent="-295671" algn="l" rtl="0">
              <a:spcBef>
                <a:spcPts val="0"/>
              </a:spcBef>
              <a:spcAft>
                <a:spcPts val="0"/>
              </a:spcAft>
              <a:buSzPct val="100000"/>
              <a:buChar char="○"/>
            </a:pPr>
            <a:r>
              <a:rPr lang="en" sz="3250"/>
              <a:t>Gaetano Barreca - (Register, Login, documentation (README))</a:t>
            </a:r>
            <a:endParaRPr sz="3250"/>
          </a:p>
          <a:p>
            <a:pPr marL="914400" lvl="1" indent="-295671" algn="l" rtl="0">
              <a:spcBef>
                <a:spcPts val="0"/>
              </a:spcBef>
              <a:spcAft>
                <a:spcPts val="0"/>
              </a:spcAft>
              <a:buSzPct val="100000"/>
              <a:buChar char="○"/>
            </a:pPr>
            <a:r>
              <a:rPr lang="en" sz="3250"/>
              <a:t>Jeremy Eddy</a:t>
            </a:r>
            <a:endParaRPr sz="3250"/>
          </a:p>
          <a:p>
            <a:pPr marL="914400" lvl="1" indent="-295671" algn="l" rtl="0">
              <a:spcBef>
                <a:spcPts val="0"/>
              </a:spcBef>
              <a:spcAft>
                <a:spcPts val="0"/>
              </a:spcAft>
              <a:buSzPct val="100000"/>
              <a:buChar char="○"/>
            </a:pPr>
            <a:r>
              <a:rPr lang="en" sz="3250"/>
              <a:t>Mcanthony Benson Okey</a:t>
            </a:r>
            <a:endParaRPr sz="3250"/>
          </a:p>
          <a:p>
            <a:pPr marL="457200" lvl="0" indent="0" algn="l" rtl="0">
              <a:spcBef>
                <a:spcPts val="1200"/>
              </a:spcBef>
              <a:spcAft>
                <a:spcPts val="1200"/>
              </a:spcAft>
              <a:buNone/>
            </a:pPr>
            <a:endParaRPr/>
          </a:p>
        </p:txBody>
      </p:sp>
      <p:sp>
        <p:nvSpPr>
          <p:cNvPr id="150" name="Google Shape;15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txBox="1">
            <a:spLocks noGrp="1"/>
          </p:cNvSpPr>
          <p:nvPr>
            <p:ph type="title"/>
          </p:nvPr>
        </p:nvSpPr>
        <p:spPr>
          <a:xfrm>
            <a:off x="1297500" y="3863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What is SmileMart? </a:t>
            </a:r>
            <a:endParaRPr/>
          </a:p>
        </p:txBody>
      </p:sp>
      <p:sp>
        <p:nvSpPr>
          <p:cNvPr id="156" name="Google Shape;156;p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sz="1200">
                <a:solidFill>
                  <a:srgbClr val="E6EDF3"/>
                </a:solidFill>
                <a:highlight>
                  <a:srgbClr val="0D1117"/>
                </a:highlight>
                <a:latin typeface="Arial"/>
                <a:ea typeface="Arial"/>
                <a:cs typeface="Arial"/>
                <a:sym typeface="Arial"/>
              </a:rPr>
              <a:t>One-stop online shop for everything that makes you smile!</a:t>
            </a:r>
            <a:endParaRPr sz="1200">
              <a:solidFill>
                <a:srgbClr val="E6EDF3"/>
              </a:solidFill>
              <a:highlight>
                <a:srgbClr val="0D1117"/>
              </a:highlight>
              <a:latin typeface="Arial"/>
              <a:ea typeface="Arial"/>
              <a:cs typeface="Arial"/>
              <a:sym typeface="Arial"/>
            </a:endParaRPr>
          </a:p>
          <a:p>
            <a:pPr marL="457200" lvl="0" indent="-311150" algn="l" rtl="0">
              <a:spcBef>
                <a:spcPts val="0"/>
              </a:spcBef>
              <a:spcAft>
                <a:spcPts val="0"/>
              </a:spcAft>
              <a:buSzPts val="1300"/>
              <a:buChar char="●"/>
            </a:pPr>
            <a:r>
              <a:rPr lang="en" sz="1200">
                <a:solidFill>
                  <a:srgbClr val="E6EDF3"/>
                </a:solidFill>
                <a:highlight>
                  <a:srgbClr val="0D1117"/>
                </a:highlight>
                <a:latin typeface="Arial"/>
                <a:ea typeface="Arial"/>
                <a:cs typeface="Arial"/>
                <a:sym typeface="Arial"/>
              </a:rPr>
              <a:t>e-commerce platform offers a wide range of Products!</a:t>
            </a:r>
            <a:endParaRPr sz="1200">
              <a:solidFill>
                <a:srgbClr val="E6EDF3"/>
              </a:solidFill>
              <a:highlight>
                <a:srgbClr val="0D1117"/>
              </a:highlight>
              <a:latin typeface="Arial"/>
              <a:ea typeface="Arial"/>
              <a:cs typeface="Arial"/>
              <a:sym typeface="Arial"/>
            </a:endParaRPr>
          </a:p>
          <a:p>
            <a:pPr marL="457200" lvl="0" indent="0" algn="l" rtl="0">
              <a:spcBef>
                <a:spcPts val="1200"/>
              </a:spcBef>
              <a:spcAft>
                <a:spcPts val="0"/>
              </a:spcAft>
              <a:buNone/>
            </a:pPr>
            <a:endParaRPr sz="1200">
              <a:solidFill>
                <a:srgbClr val="E6EDF3"/>
              </a:solidFill>
              <a:highlight>
                <a:srgbClr val="0D1117"/>
              </a:highlight>
              <a:latin typeface="Arial"/>
              <a:ea typeface="Arial"/>
              <a:cs typeface="Arial"/>
              <a:sym typeface="Arial"/>
            </a:endParaRPr>
          </a:p>
          <a:p>
            <a:pPr marL="0" lvl="0" indent="0" algn="l" rtl="0">
              <a:spcBef>
                <a:spcPts val="1200"/>
              </a:spcBef>
              <a:spcAft>
                <a:spcPts val="1200"/>
              </a:spcAft>
              <a:buNone/>
            </a:pPr>
            <a:endParaRPr sz="1200">
              <a:solidFill>
                <a:srgbClr val="E6EDF3"/>
              </a:solidFill>
              <a:highlight>
                <a:srgbClr val="0D1117"/>
              </a:highlight>
              <a:latin typeface="Arial"/>
              <a:ea typeface="Arial"/>
              <a:cs typeface="Arial"/>
              <a:sym typeface="Arial"/>
            </a:endParaRPr>
          </a:p>
        </p:txBody>
      </p:sp>
      <p:sp>
        <p:nvSpPr>
          <p:cNvPr id="157" name="Google Shape;15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4</a:t>
            </a:fld>
            <a:endParaRPr/>
          </a:p>
        </p:txBody>
      </p:sp>
      <p:pic>
        <p:nvPicPr>
          <p:cNvPr id="158" name="Google Shape;158;p16"/>
          <p:cNvPicPr preferRelativeResize="0"/>
          <p:nvPr/>
        </p:nvPicPr>
        <p:blipFill>
          <a:blip r:embed="rId3">
            <a:alphaModFix/>
          </a:blip>
          <a:stretch>
            <a:fillRect/>
          </a:stretch>
        </p:blipFill>
        <p:spPr>
          <a:xfrm>
            <a:off x="5937975" y="2350050"/>
            <a:ext cx="2534476" cy="2534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Scrum Methodology:</a:t>
            </a:r>
            <a:endParaRPr/>
          </a:p>
          <a:p>
            <a:pPr marL="0" lvl="0" indent="0" algn="l" rtl="0">
              <a:spcBef>
                <a:spcPts val="0"/>
              </a:spcBef>
              <a:spcAft>
                <a:spcPts val="0"/>
              </a:spcAft>
              <a:buNone/>
            </a:pPr>
            <a:r>
              <a:rPr lang="en"/>
              <a:t>Trello </a:t>
            </a:r>
            <a:endParaRPr/>
          </a:p>
        </p:txBody>
      </p:sp>
      <p:sp>
        <p:nvSpPr>
          <p:cNvPr id="164" name="Google Shape;16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pic>
        <p:nvPicPr>
          <p:cNvPr id="165" name="Google Shape;165;p17"/>
          <p:cNvPicPr preferRelativeResize="0"/>
          <p:nvPr/>
        </p:nvPicPr>
        <p:blipFill>
          <a:blip r:embed="rId3">
            <a:alphaModFix/>
          </a:blip>
          <a:stretch>
            <a:fillRect/>
          </a:stretch>
        </p:blipFill>
        <p:spPr>
          <a:xfrm>
            <a:off x="1542375" y="1307850"/>
            <a:ext cx="6549158" cy="3530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Scrum Methodology:</a:t>
            </a:r>
            <a:endParaRPr/>
          </a:p>
          <a:p>
            <a:pPr marL="0" lvl="0" indent="0" algn="l" rtl="0">
              <a:spcBef>
                <a:spcPts val="0"/>
              </a:spcBef>
              <a:spcAft>
                <a:spcPts val="0"/>
              </a:spcAft>
              <a:buNone/>
            </a:pPr>
            <a:r>
              <a:rPr lang="en"/>
              <a:t>Iterative Planning / Development</a:t>
            </a:r>
            <a:endParaRPr/>
          </a:p>
          <a:p>
            <a:pPr marL="0" lvl="0" indent="0" algn="l" rtl="0">
              <a:spcBef>
                <a:spcPts val="0"/>
              </a:spcBef>
              <a:spcAft>
                <a:spcPts val="0"/>
              </a:spcAft>
              <a:buNone/>
            </a:pPr>
            <a:endParaRPr/>
          </a:p>
        </p:txBody>
      </p:sp>
      <p:sp>
        <p:nvSpPr>
          <p:cNvPr id="171" name="Google Shape;171;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Trello Board for Iterative Development</a:t>
            </a:r>
            <a:endParaRPr/>
          </a:p>
          <a:p>
            <a:pPr marL="457200" lvl="0" indent="-311150" algn="l" rtl="0">
              <a:spcBef>
                <a:spcPts val="0"/>
              </a:spcBef>
              <a:spcAft>
                <a:spcPts val="0"/>
              </a:spcAft>
              <a:buSzPts val="1300"/>
              <a:buChar char="●"/>
            </a:pPr>
            <a:r>
              <a:rPr lang="en"/>
              <a:t>Split Team into Front End / Back End </a:t>
            </a:r>
            <a:endParaRPr/>
          </a:p>
          <a:p>
            <a:pPr marL="457200" lvl="0" indent="-311150" algn="l" rtl="0">
              <a:spcBef>
                <a:spcPts val="0"/>
              </a:spcBef>
              <a:spcAft>
                <a:spcPts val="0"/>
              </a:spcAft>
              <a:buSzPts val="1300"/>
              <a:buChar char="●"/>
            </a:pPr>
            <a:r>
              <a:rPr lang="en"/>
              <a:t>Regular Stand Up Meetings</a:t>
            </a:r>
            <a:endParaRPr/>
          </a:p>
          <a:p>
            <a:pPr marL="457200" lvl="0" indent="-311150" algn="l" rtl="0">
              <a:spcBef>
                <a:spcPts val="0"/>
              </a:spcBef>
              <a:spcAft>
                <a:spcPts val="0"/>
              </a:spcAft>
              <a:buSzPts val="1300"/>
              <a:buChar char="●"/>
            </a:pPr>
            <a:r>
              <a:rPr lang="en"/>
              <a:t>Structured Coding &amp; Development</a:t>
            </a:r>
            <a:endParaRPr/>
          </a:p>
          <a:p>
            <a:pPr marL="457200" lvl="0" indent="-311150" algn="l" rtl="0">
              <a:spcBef>
                <a:spcPts val="0"/>
              </a:spcBef>
              <a:spcAft>
                <a:spcPts val="0"/>
              </a:spcAft>
              <a:buSzPts val="1300"/>
              <a:buChar char="●"/>
            </a:pPr>
            <a:r>
              <a:rPr lang="en"/>
              <a:t>GitHub for Version Control</a:t>
            </a:r>
            <a:endParaRPr/>
          </a:p>
        </p:txBody>
      </p:sp>
      <p:sp>
        <p:nvSpPr>
          <p:cNvPr id="172" name="Google Shape;1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6</a:t>
            </a:fld>
            <a:endParaRPr/>
          </a:p>
        </p:txBody>
      </p:sp>
      <p:pic>
        <p:nvPicPr>
          <p:cNvPr id="173" name="Google Shape;173;p18"/>
          <p:cNvPicPr preferRelativeResize="0"/>
          <p:nvPr/>
        </p:nvPicPr>
        <p:blipFill>
          <a:blip r:embed="rId3">
            <a:alphaModFix/>
          </a:blip>
          <a:stretch>
            <a:fillRect/>
          </a:stretch>
        </p:blipFill>
        <p:spPr>
          <a:xfrm>
            <a:off x="4847925" y="2527400"/>
            <a:ext cx="4025150" cy="201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Application Architecture:</a:t>
            </a:r>
            <a:endParaRPr/>
          </a:p>
          <a:p>
            <a:pPr marL="0" lvl="0" indent="0" algn="l" rtl="0">
              <a:spcBef>
                <a:spcPts val="0"/>
              </a:spcBef>
              <a:spcAft>
                <a:spcPts val="0"/>
              </a:spcAft>
              <a:buNone/>
            </a:pPr>
            <a:r>
              <a:rPr lang="en"/>
              <a:t>Relational Database</a:t>
            </a:r>
            <a:endParaRPr/>
          </a:p>
        </p:txBody>
      </p:sp>
      <p:sp>
        <p:nvSpPr>
          <p:cNvPr id="179" name="Google Shape;179;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7</a:t>
            </a:fld>
            <a:endParaRPr/>
          </a:p>
        </p:txBody>
      </p:sp>
      <p:pic>
        <p:nvPicPr>
          <p:cNvPr id="180" name="Google Shape;180;p19"/>
          <p:cNvPicPr preferRelativeResize="0"/>
          <p:nvPr/>
        </p:nvPicPr>
        <p:blipFill>
          <a:blip r:embed="rId3">
            <a:alphaModFix/>
          </a:blip>
          <a:stretch>
            <a:fillRect/>
          </a:stretch>
        </p:blipFill>
        <p:spPr>
          <a:xfrm>
            <a:off x="728850" y="1448450"/>
            <a:ext cx="7237675" cy="3313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Application Architecture:</a:t>
            </a:r>
            <a:endParaRPr/>
          </a:p>
          <a:p>
            <a:pPr marL="0" lvl="0" indent="0" algn="l" rtl="0">
              <a:spcBef>
                <a:spcPts val="0"/>
              </a:spcBef>
              <a:spcAft>
                <a:spcPts val="0"/>
              </a:spcAft>
              <a:buNone/>
            </a:pPr>
            <a:r>
              <a:rPr lang="en"/>
              <a:t>Client - Server Model</a:t>
            </a:r>
            <a:endParaRPr/>
          </a:p>
        </p:txBody>
      </p:sp>
      <p:sp>
        <p:nvSpPr>
          <p:cNvPr id="186" name="Google Shape;18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8</a:t>
            </a:fld>
            <a:endParaRPr/>
          </a:p>
        </p:txBody>
      </p:sp>
      <p:pic>
        <p:nvPicPr>
          <p:cNvPr id="187" name="Google Shape;187;p20"/>
          <p:cNvPicPr preferRelativeResize="0"/>
          <p:nvPr/>
        </p:nvPicPr>
        <p:blipFill>
          <a:blip r:embed="rId3">
            <a:alphaModFix/>
          </a:blip>
          <a:stretch>
            <a:fillRect/>
          </a:stretch>
        </p:blipFill>
        <p:spPr>
          <a:xfrm>
            <a:off x="1375188" y="1352175"/>
            <a:ext cx="6393620" cy="35308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Application Architecture:</a:t>
            </a:r>
            <a:endParaRPr/>
          </a:p>
          <a:p>
            <a:pPr marL="0" lvl="0" indent="0" algn="l" rtl="0">
              <a:spcBef>
                <a:spcPts val="0"/>
              </a:spcBef>
              <a:spcAft>
                <a:spcPts val="0"/>
              </a:spcAft>
              <a:buNone/>
            </a:pPr>
            <a:r>
              <a:rPr lang="en"/>
              <a:t>High Level Overview</a:t>
            </a:r>
            <a:endParaRPr/>
          </a:p>
        </p:txBody>
      </p:sp>
      <p:sp>
        <p:nvSpPr>
          <p:cNvPr id="193" name="Google Shape;19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9</a:t>
            </a:fld>
            <a:endParaRPr/>
          </a:p>
        </p:txBody>
      </p:sp>
      <p:pic>
        <p:nvPicPr>
          <p:cNvPr id="194" name="Google Shape;194;p21"/>
          <p:cNvPicPr preferRelativeResize="0"/>
          <p:nvPr/>
        </p:nvPicPr>
        <p:blipFill>
          <a:blip r:embed="rId3">
            <a:alphaModFix/>
          </a:blip>
          <a:stretch>
            <a:fillRect/>
          </a:stretch>
        </p:blipFill>
        <p:spPr>
          <a:xfrm>
            <a:off x="181950" y="1377051"/>
            <a:ext cx="8839199" cy="321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1297500" y="378975"/>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 Case Diagram:</a:t>
            </a:r>
            <a:endParaRPr/>
          </a:p>
          <a:p>
            <a:pPr marL="0" lvl="0" indent="0" algn="l" rtl="0">
              <a:spcBef>
                <a:spcPts val="0"/>
              </a:spcBef>
              <a:spcAft>
                <a:spcPts val="0"/>
              </a:spcAft>
              <a:buNone/>
            </a:pPr>
            <a:r>
              <a:rPr lang="en"/>
              <a:t>User Use-Case</a:t>
            </a:r>
            <a:endParaRPr/>
          </a:p>
        </p:txBody>
      </p:sp>
      <p:sp>
        <p:nvSpPr>
          <p:cNvPr id="200" name="Google Shape;200;p2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User Should Be Able To:</a:t>
            </a:r>
            <a:endParaRPr/>
          </a:p>
          <a:p>
            <a:pPr marL="914400" lvl="1" indent="-298450" algn="l" rtl="0">
              <a:spcBef>
                <a:spcPts val="0"/>
              </a:spcBef>
              <a:spcAft>
                <a:spcPts val="0"/>
              </a:spcAft>
              <a:buSzPts val="1100"/>
              <a:buChar char="○"/>
            </a:pPr>
            <a:r>
              <a:rPr lang="en"/>
              <a:t>Create an Account</a:t>
            </a:r>
            <a:endParaRPr/>
          </a:p>
          <a:p>
            <a:pPr marL="914400" lvl="1" indent="-298450" algn="l" rtl="0">
              <a:spcBef>
                <a:spcPts val="0"/>
              </a:spcBef>
              <a:spcAft>
                <a:spcPts val="0"/>
              </a:spcAft>
              <a:buSzPts val="1100"/>
              <a:buChar char="○"/>
            </a:pPr>
            <a:r>
              <a:rPr lang="en"/>
              <a:t>Login</a:t>
            </a:r>
            <a:endParaRPr/>
          </a:p>
          <a:p>
            <a:pPr marL="914400" lvl="1" indent="-298450" algn="l" rtl="0">
              <a:spcBef>
                <a:spcPts val="0"/>
              </a:spcBef>
              <a:spcAft>
                <a:spcPts val="0"/>
              </a:spcAft>
              <a:buSzPts val="1100"/>
              <a:buChar char="○"/>
            </a:pPr>
            <a:r>
              <a:rPr lang="en"/>
              <a:t>View All Products</a:t>
            </a:r>
            <a:endParaRPr/>
          </a:p>
          <a:p>
            <a:pPr marL="914400" lvl="1" indent="-298450" algn="l" rtl="0">
              <a:spcBef>
                <a:spcPts val="0"/>
              </a:spcBef>
              <a:spcAft>
                <a:spcPts val="0"/>
              </a:spcAft>
              <a:buSzPts val="1100"/>
              <a:buChar char="○"/>
            </a:pPr>
            <a:r>
              <a:rPr lang="en"/>
              <a:t>Filter Products </a:t>
            </a:r>
            <a:endParaRPr/>
          </a:p>
          <a:p>
            <a:pPr marL="914400" lvl="1" indent="-298450" algn="l" rtl="0">
              <a:spcBef>
                <a:spcPts val="0"/>
              </a:spcBef>
              <a:spcAft>
                <a:spcPts val="0"/>
              </a:spcAft>
              <a:buSzPts val="1100"/>
              <a:buChar char="○"/>
            </a:pPr>
            <a:r>
              <a:rPr lang="en"/>
              <a:t>Add Products to Cart</a:t>
            </a:r>
            <a:endParaRPr/>
          </a:p>
          <a:p>
            <a:pPr marL="914400" lvl="1" indent="-298450" algn="l" rtl="0">
              <a:spcBef>
                <a:spcPts val="0"/>
              </a:spcBef>
              <a:spcAft>
                <a:spcPts val="0"/>
              </a:spcAft>
              <a:buSzPts val="1100"/>
              <a:buChar char="○"/>
            </a:pPr>
            <a:r>
              <a:rPr lang="en"/>
              <a:t>Checkout Cart</a:t>
            </a:r>
            <a:endParaRPr/>
          </a:p>
          <a:p>
            <a:pPr marL="914400" lvl="1" indent="-298450" algn="l" rtl="0">
              <a:spcBef>
                <a:spcPts val="0"/>
              </a:spcBef>
              <a:spcAft>
                <a:spcPts val="0"/>
              </a:spcAft>
              <a:buSzPts val="1100"/>
              <a:buChar char="○"/>
            </a:pPr>
            <a:r>
              <a:rPr lang="en"/>
              <a:t>View Purchase History</a:t>
            </a:r>
            <a:endParaRPr/>
          </a:p>
          <a:p>
            <a:pPr marL="914400" lvl="1" indent="-298450" algn="l" rtl="0">
              <a:spcBef>
                <a:spcPts val="0"/>
              </a:spcBef>
              <a:spcAft>
                <a:spcPts val="0"/>
              </a:spcAft>
              <a:buSzPts val="1100"/>
              <a:buChar char="○"/>
            </a:pPr>
            <a:r>
              <a:rPr lang="en"/>
              <a:t>Update their Information</a:t>
            </a:r>
            <a:endParaRPr/>
          </a:p>
        </p:txBody>
      </p:sp>
      <p:sp>
        <p:nvSpPr>
          <p:cNvPr id="201" name="Google Shape;20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10</a:t>
            </a:fld>
            <a:endParaRPr/>
          </a:p>
        </p:txBody>
      </p:sp>
      <p:pic>
        <p:nvPicPr>
          <p:cNvPr id="202" name="Google Shape;202;p22"/>
          <p:cNvPicPr preferRelativeResize="0"/>
          <p:nvPr/>
        </p:nvPicPr>
        <p:blipFill>
          <a:blip r:embed="rId3">
            <a:alphaModFix/>
          </a:blip>
          <a:stretch>
            <a:fillRect/>
          </a:stretch>
        </p:blipFill>
        <p:spPr>
          <a:xfrm>
            <a:off x="6082050" y="73900"/>
            <a:ext cx="2516025" cy="4833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3"/>
          <p:cNvSpPr txBox="1">
            <a:spLocks noGrp="1"/>
          </p:cNvSpPr>
          <p:nvPr>
            <p:ph type="title"/>
          </p:nvPr>
        </p:nvSpPr>
        <p:spPr>
          <a:xfrm>
            <a:off x="1297500" y="371575"/>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Use Case Diagram:</a:t>
            </a:r>
            <a:endParaRPr/>
          </a:p>
          <a:p>
            <a:pPr marL="0" lvl="0" indent="0" algn="l" rtl="0">
              <a:spcBef>
                <a:spcPts val="0"/>
              </a:spcBef>
              <a:spcAft>
                <a:spcPts val="0"/>
              </a:spcAft>
              <a:buNone/>
            </a:pPr>
            <a:r>
              <a:rPr lang="en"/>
              <a:t>Manager Use-Case</a:t>
            </a:r>
            <a:endParaRPr/>
          </a:p>
        </p:txBody>
      </p:sp>
      <p:sp>
        <p:nvSpPr>
          <p:cNvPr id="208" name="Google Shape;208;p2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Managers Should Be Able To:</a:t>
            </a:r>
            <a:endParaRPr/>
          </a:p>
          <a:p>
            <a:pPr marL="914400" lvl="1" indent="-298450" algn="l" rtl="0">
              <a:spcBef>
                <a:spcPts val="0"/>
              </a:spcBef>
              <a:spcAft>
                <a:spcPts val="0"/>
              </a:spcAft>
              <a:buSzPts val="1100"/>
              <a:buChar char="○"/>
            </a:pPr>
            <a:r>
              <a:rPr lang="en"/>
              <a:t>Create an Account</a:t>
            </a:r>
            <a:endParaRPr/>
          </a:p>
          <a:p>
            <a:pPr marL="914400" lvl="1" indent="-298450" algn="l" rtl="0">
              <a:spcBef>
                <a:spcPts val="0"/>
              </a:spcBef>
              <a:spcAft>
                <a:spcPts val="0"/>
              </a:spcAft>
              <a:buSzPts val="1100"/>
              <a:buChar char="○"/>
            </a:pPr>
            <a:r>
              <a:rPr lang="en"/>
              <a:t>Login</a:t>
            </a:r>
            <a:endParaRPr/>
          </a:p>
          <a:p>
            <a:pPr marL="914400" lvl="1" indent="-298450" algn="l" rtl="0">
              <a:spcBef>
                <a:spcPts val="0"/>
              </a:spcBef>
              <a:spcAft>
                <a:spcPts val="0"/>
              </a:spcAft>
              <a:buSzPts val="1100"/>
              <a:buChar char="○"/>
            </a:pPr>
            <a:r>
              <a:rPr lang="en"/>
              <a:t>Insert Products</a:t>
            </a:r>
            <a:endParaRPr/>
          </a:p>
          <a:p>
            <a:pPr marL="914400" lvl="1" indent="-298450" algn="l" rtl="0">
              <a:spcBef>
                <a:spcPts val="0"/>
              </a:spcBef>
              <a:spcAft>
                <a:spcPts val="0"/>
              </a:spcAft>
              <a:buSzPts val="1100"/>
              <a:buChar char="○"/>
            </a:pPr>
            <a:r>
              <a:rPr lang="en"/>
              <a:t>Update Products</a:t>
            </a:r>
            <a:endParaRPr/>
          </a:p>
          <a:p>
            <a:pPr marL="914400" lvl="1" indent="-298450" algn="l" rtl="0">
              <a:spcBef>
                <a:spcPts val="0"/>
              </a:spcBef>
              <a:spcAft>
                <a:spcPts val="0"/>
              </a:spcAft>
              <a:buSzPts val="1100"/>
              <a:buChar char="○"/>
            </a:pPr>
            <a:r>
              <a:rPr lang="en"/>
              <a:t>Remove Products</a:t>
            </a:r>
            <a:endParaRPr/>
          </a:p>
          <a:p>
            <a:pPr marL="914400" lvl="1" indent="-298450" algn="l" rtl="0">
              <a:spcBef>
                <a:spcPts val="0"/>
              </a:spcBef>
              <a:spcAft>
                <a:spcPts val="0"/>
              </a:spcAft>
              <a:buSzPts val="1100"/>
              <a:buChar char="○"/>
            </a:pPr>
            <a:r>
              <a:rPr lang="en"/>
              <a:t>Update Status of an Order</a:t>
            </a:r>
            <a:endParaRPr/>
          </a:p>
          <a:p>
            <a:pPr marL="914400" lvl="1" indent="-298450" algn="l" rtl="0">
              <a:spcBef>
                <a:spcPts val="0"/>
              </a:spcBef>
              <a:spcAft>
                <a:spcPts val="0"/>
              </a:spcAft>
              <a:buSzPts val="1100"/>
              <a:buChar char="○"/>
            </a:pPr>
            <a:r>
              <a:rPr lang="en"/>
              <a:t>View All Orders</a:t>
            </a:r>
            <a:endParaRPr/>
          </a:p>
        </p:txBody>
      </p:sp>
      <p:sp>
        <p:nvSpPr>
          <p:cNvPr id="209" name="Google Shape;20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11</a:t>
            </a:fld>
            <a:endParaRPr/>
          </a:p>
        </p:txBody>
      </p:sp>
      <p:pic>
        <p:nvPicPr>
          <p:cNvPr id="210" name="Google Shape;210;p23"/>
          <p:cNvPicPr preferRelativeResize="0"/>
          <p:nvPr/>
        </p:nvPicPr>
        <p:blipFill>
          <a:blip r:embed="rId3">
            <a:alphaModFix/>
          </a:blip>
          <a:stretch>
            <a:fillRect/>
          </a:stretch>
        </p:blipFill>
        <p:spPr>
          <a:xfrm>
            <a:off x="6045325" y="73900"/>
            <a:ext cx="2603850" cy="4833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Test Results</a:t>
            </a:r>
            <a:endParaRPr/>
          </a:p>
        </p:txBody>
      </p:sp>
      <p:sp>
        <p:nvSpPr>
          <p:cNvPr id="216" name="Google Shape;21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12</a:t>
            </a:fld>
            <a:endParaRPr/>
          </a:p>
        </p:txBody>
      </p:sp>
      <p:pic>
        <p:nvPicPr>
          <p:cNvPr id="217" name="Google Shape;217;p24"/>
          <p:cNvPicPr preferRelativeResize="0"/>
          <p:nvPr/>
        </p:nvPicPr>
        <p:blipFill>
          <a:blip r:embed="rId3">
            <a:alphaModFix/>
          </a:blip>
          <a:stretch>
            <a:fillRect/>
          </a:stretch>
        </p:blipFill>
        <p:spPr>
          <a:xfrm>
            <a:off x="4788028" y="1169925"/>
            <a:ext cx="3684426" cy="3706450"/>
          </a:xfrm>
          <a:prstGeom prst="rect">
            <a:avLst/>
          </a:prstGeom>
          <a:noFill/>
          <a:ln>
            <a:noFill/>
          </a:ln>
        </p:spPr>
      </p:pic>
      <p:pic>
        <p:nvPicPr>
          <p:cNvPr id="218" name="Google Shape;218;p24"/>
          <p:cNvPicPr preferRelativeResize="0"/>
          <p:nvPr/>
        </p:nvPicPr>
        <p:blipFill>
          <a:blip r:embed="rId4">
            <a:alphaModFix/>
          </a:blip>
          <a:stretch>
            <a:fillRect/>
          </a:stretch>
        </p:blipFill>
        <p:spPr>
          <a:xfrm>
            <a:off x="979750" y="1014950"/>
            <a:ext cx="3488699" cy="4016401"/>
          </a:xfrm>
          <a:prstGeom prst="rect">
            <a:avLst/>
          </a:prstGeom>
          <a:noFill/>
          <a:ln>
            <a:noFill/>
          </a:ln>
        </p:spPr>
      </p:pic>
      <p:pic>
        <p:nvPicPr>
          <p:cNvPr id="219" name="Google Shape;219;p24"/>
          <p:cNvPicPr preferRelativeResize="0"/>
          <p:nvPr/>
        </p:nvPicPr>
        <p:blipFill>
          <a:blip r:embed="rId5">
            <a:alphaModFix/>
          </a:blip>
          <a:stretch>
            <a:fillRect/>
          </a:stretch>
        </p:blipFill>
        <p:spPr>
          <a:xfrm>
            <a:off x="4348425" y="513350"/>
            <a:ext cx="3684425" cy="3250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Security (JWT)</a:t>
            </a:r>
            <a:endParaRPr/>
          </a:p>
        </p:txBody>
      </p:sp>
      <p:sp>
        <p:nvSpPr>
          <p:cNvPr id="225" name="Google Shape;225;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Developed JWT For Security in SmileMart</a:t>
            </a:r>
            <a:endParaRPr/>
          </a:p>
          <a:p>
            <a:pPr marL="914400" lvl="1" indent="-298450" algn="l" rtl="0">
              <a:spcBef>
                <a:spcPts val="0"/>
              </a:spcBef>
              <a:spcAft>
                <a:spcPts val="0"/>
              </a:spcAft>
              <a:buSzPts val="1100"/>
              <a:buChar char="○"/>
            </a:pPr>
            <a:r>
              <a:rPr lang="en"/>
              <a:t>Standard for Transmitting Information</a:t>
            </a:r>
            <a:endParaRPr/>
          </a:p>
          <a:p>
            <a:pPr marL="914400" lvl="1" indent="-298450" algn="l" rtl="0">
              <a:spcBef>
                <a:spcPts val="0"/>
              </a:spcBef>
              <a:spcAft>
                <a:spcPts val="0"/>
              </a:spcAft>
              <a:buSzPts val="1100"/>
              <a:buChar char="○"/>
            </a:pPr>
            <a:r>
              <a:rPr lang="en"/>
              <a:t>No need to use Store Session</a:t>
            </a:r>
            <a:endParaRPr/>
          </a:p>
          <a:p>
            <a:pPr marL="914400" lvl="1" indent="-298450" algn="l" rtl="0">
              <a:spcBef>
                <a:spcPts val="0"/>
              </a:spcBef>
              <a:spcAft>
                <a:spcPts val="0"/>
              </a:spcAft>
              <a:buSzPts val="1100"/>
              <a:buChar char="○"/>
            </a:pPr>
            <a:r>
              <a:rPr lang="en"/>
              <a:t>Simplifies Scaling </a:t>
            </a:r>
            <a:endParaRPr/>
          </a:p>
          <a:p>
            <a:pPr marL="914400" lvl="1" indent="-298450" algn="l" rtl="0">
              <a:spcBef>
                <a:spcPts val="0"/>
              </a:spcBef>
              <a:spcAft>
                <a:spcPts val="0"/>
              </a:spcAft>
              <a:buSzPts val="1100"/>
              <a:buChar char="○"/>
            </a:pPr>
            <a:r>
              <a:rPr lang="en"/>
              <a:t>Reduces Server Load</a:t>
            </a:r>
            <a:endParaRPr/>
          </a:p>
          <a:p>
            <a:pPr marL="914400" lvl="1" indent="-298450" algn="l" rtl="0">
              <a:spcBef>
                <a:spcPts val="0"/>
              </a:spcBef>
              <a:spcAft>
                <a:spcPts val="0"/>
              </a:spcAft>
              <a:buSzPts val="1100"/>
              <a:buChar char="○"/>
            </a:pPr>
            <a:r>
              <a:rPr lang="en"/>
              <a:t>Secure Token Structure using Encryption Algorithms</a:t>
            </a:r>
            <a:endParaRPr/>
          </a:p>
        </p:txBody>
      </p:sp>
      <p:sp>
        <p:nvSpPr>
          <p:cNvPr id="226" name="Google Shape;226;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13</a:t>
            </a:fld>
            <a:endParaRPr/>
          </a:p>
        </p:txBody>
      </p:sp>
      <p:pic>
        <p:nvPicPr>
          <p:cNvPr id="227" name="Google Shape;227;p25"/>
          <p:cNvPicPr preferRelativeResize="0"/>
          <p:nvPr/>
        </p:nvPicPr>
        <p:blipFill>
          <a:blip r:embed="rId3">
            <a:alphaModFix/>
          </a:blip>
          <a:stretch>
            <a:fillRect/>
          </a:stretch>
        </p:blipFill>
        <p:spPr>
          <a:xfrm>
            <a:off x="6234950" y="2305700"/>
            <a:ext cx="2173050" cy="2173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6"/>
          <p:cNvSpPr txBox="1">
            <a:spLocks noGrp="1"/>
          </p:cNvSpPr>
          <p:nvPr>
            <p:ph type="title"/>
          </p:nvPr>
        </p:nvSpPr>
        <p:spPr>
          <a:xfrm>
            <a:off x="1052550" y="2114700"/>
            <a:ext cx="7038900" cy="914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DEMO!</a:t>
            </a:r>
            <a:endParaRPr/>
          </a:p>
        </p:txBody>
      </p:sp>
      <p:sp>
        <p:nvSpPr>
          <p:cNvPr id="233" name="Google Shape;233;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Conclusion | Next Steps!</a:t>
            </a:r>
            <a:endParaRPr/>
          </a:p>
        </p:txBody>
      </p:sp>
      <p:sp>
        <p:nvSpPr>
          <p:cNvPr id="239" name="Google Shape;239;p2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Next Steps</a:t>
            </a:r>
            <a:endParaRPr/>
          </a:p>
          <a:p>
            <a:pPr marL="914400" lvl="1" indent="-298450" algn="l" rtl="0">
              <a:spcBef>
                <a:spcPts val="0"/>
              </a:spcBef>
              <a:spcAft>
                <a:spcPts val="0"/>
              </a:spcAft>
              <a:buSzPts val="1100"/>
              <a:buChar char="○"/>
            </a:pPr>
            <a:r>
              <a:rPr lang="en"/>
              <a:t>Add Payment Processor</a:t>
            </a:r>
            <a:endParaRPr/>
          </a:p>
          <a:p>
            <a:pPr marL="914400" lvl="1" indent="-298450" algn="l" rtl="0">
              <a:spcBef>
                <a:spcPts val="0"/>
              </a:spcBef>
              <a:spcAft>
                <a:spcPts val="0"/>
              </a:spcAft>
              <a:buSzPts val="1100"/>
              <a:buChar char="○"/>
            </a:pPr>
            <a:r>
              <a:rPr lang="en"/>
              <a:t>Adding Suppliers </a:t>
            </a:r>
            <a:endParaRPr/>
          </a:p>
          <a:p>
            <a:pPr marL="914400" lvl="1" indent="-298450" algn="l" rtl="0">
              <a:spcBef>
                <a:spcPts val="0"/>
              </a:spcBef>
              <a:spcAft>
                <a:spcPts val="0"/>
              </a:spcAft>
              <a:buSzPts val="1100"/>
              <a:buChar char="○"/>
            </a:pPr>
            <a:r>
              <a:rPr lang="en"/>
              <a:t>Update User Interface</a:t>
            </a:r>
            <a:endParaRPr/>
          </a:p>
        </p:txBody>
      </p:sp>
      <p:sp>
        <p:nvSpPr>
          <p:cNvPr id="240" name="Google Shape;24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8"/>
          <p:cNvSpPr txBox="1">
            <a:spLocks noGrp="1"/>
          </p:cNvSpPr>
          <p:nvPr>
            <p:ph type="title"/>
          </p:nvPr>
        </p:nvSpPr>
        <p:spPr>
          <a:xfrm>
            <a:off x="1297500" y="2114700"/>
            <a:ext cx="7038900" cy="914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Q&amp;A</a:t>
            </a:r>
            <a:endParaRPr/>
          </a:p>
        </p:txBody>
      </p:sp>
      <p:sp>
        <p:nvSpPr>
          <p:cNvPr id="246" name="Google Shape;24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16</a:t>
            </a:fld>
            <a:endParaRPr/>
          </a:p>
        </p:txBody>
      </p:sp>
      <p:sp>
        <p:nvSpPr>
          <p:cNvPr id="247" name="Google Shape;247;p28"/>
          <p:cNvSpPr txBox="1">
            <a:spLocks noGrp="1"/>
          </p:cNvSpPr>
          <p:nvPr>
            <p:ph type="title"/>
          </p:nvPr>
        </p:nvSpPr>
        <p:spPr>
          <a:xfrm>
            <a:off x="1297500" y="1200600"/>
            <a:ext cx="7038900" cy="9141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Thank you for listening!</a:t>
            </a: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525</Words>
  <Application>Microsoft Office PowerPoint</Application>
  <PresentationFormat>On-screen Show (16:9)</PresentationFormat>
  <Paragraphs>110</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Montserrat</vt:lpstr>
      <vt:lpstr>Aptos</vt:lpstr>
      <vt:lpstr>Lato</vt:lpstr>
      <vt:lpstr>Arial</vt:lpstr>
      <vt:lpstr>Focus</vt:lpstr>
      <vt:lpstr>SmileMart</vt:lpstr>
      <vt:lpstr>Table of Contents</vt:lpstr>
      <vt:lpstr>Meet The Team! </vt:lpstr>
      <vt:lpstr>What is SmileMart? </vt:lpstr>
      <vt:lpstr>Scrum Methodology: Trello </vt:lpstr>
      <vt:lpstr>Scrum Methodology: Iterative Planning / Development </vt:lpstr>
      <vt:lpstr>Application Architecture: Relational Database</vt:lpstr>
      <vt:lpstr>Application Architecture: Client - Server Model</vt:lpstr>
      <vt:lpstr>Application Architecture: High Level Overview</vt:lpstr>
      <vt:lpstr>Use Case Diagram: User Use-Case</vt:lpstr>
      <vt:lpstr>Use Case Diagram: Manager Use-Case</vt:lpstr>
      <vt:lpstr>Test Results</vt:lpstr>
      <vt:lpstr>Security (JWT)</vt:lpstr>
      <vt:lpstr>DEMO!</vt:lpstr>
      <vt:lpstr>Conclusion | Next Steps!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Petruzziello, Benjamin z (Contractor)</cp:lastModifiedBy>
  <cp:revision>1</cp:revision>
  <dcterms:modified xsi:type="dcterms:W3CDTF">2026-07-18T15:59:09Z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9455cd2-ef3f-47ad-8dee-f10882ec60d9_Enabled">
    <vt:lpwstr>true</vt:lpwstr>
  </property>
  <property fmtid="{D5CDD505-2E9C-101B-9397-08002B2CF9AE}" pid="3" name="MSIP_Label_a9455cd2-ef3f-47ad-8dee-f10882ec60d9_SetDate">
    <vt:lpwstr>2026-07-18T15:59:06Z</vt:lpwstr>
  </property>
  <property fmtid="{D5CDD505-2E9C-101B-9397-08002B2CF9AE}" pid="4" name="MSIP_Label_a9455cd2-ef3f-47ad-8dee-f10882ec60d9_Method">
    <vt:lpwstr>Standard</vt:lpwstr>
  </property>
  <property fmtid="{D5CDD505-2E9C-101B-9397-08002B2CF9AE}" pid="5" name="MSIP_Label_a9455cd2-ef3f-47ad-8dee-f10882ec60d9_Name">
    <vt:lpwstr>Confidential - Internal Distribution</vt:lpwstr>
  </property>
  <property fmtid="{D5CDD505-2E9C-101B-9397-08002B2CF9AE}" pid="6" name="MSIP_Label_a9455cd2-ef3f-47ad-8dee-f10882ec60d9_SiteId">
    <vt:lpwstr>e6baca02-d986-4077-8053-30de7d5e0d58</vt:lpwstr>
  </property>
  <property fmtid="{D5CDD505-2E9C-101B-9397-08002B2CF9AE}" pid="7" name="MSIP_Label_a9455cd2-ef3f-47ad-8dee-f10882ec60d9_ActionId">
    <vt:lpwstr>1dca302e-d575-47e5-83cc-402e2267992a</vt:lpwstr>
  </property>
  <property fmtid="{D5CDD505-2E9C-101B-9397-08002B2CF9AE}" pid="8" name="MSIP_Label_a9455cd2-ef3f-47ad-8dee-f10882ec60d9_ContentBits">
    <vt:lpwstr>2</vt:lpwstr>
  </property>
  <property fmtid="{D5CDD505-2E9C-101B-9397-08002B2CF9AE}" pid="9" name="MSIP_Label_a9455cd2-ef3f-47ad-8dee-f10882ec60d9_Tag">
    <vt:lpwstr>10, 3, 0, 1</vt:lpwstr>
  </property>
  <property fmtid="{D5CDD505-2E9C-101B-9397-08002B2CF9AE}" pid="10" name="ClassificationContentMarkingFooterLocations">
    <vt:lpwstr>Focus:3</vt:lpwstr>
  </property>
  <property fmtid="{D5CDD505-2E9C-101B-9397-08002B2CF9AE}" pid="11" name="ClassificationContentMarkingFooterText">
    <vt:lpwstr>Fannie Mae Confidential</vt:lpwstr>
  </property>
</Properties>
</file>